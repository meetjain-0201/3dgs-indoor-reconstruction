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5A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CS5330  · 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400" b="1">
                <a:solidFill>
                  <a:srgbClr val="E8E8EE"/>
                </a:solidFill>
                <a:latin typeface="Helvetica Neue"/>
              </a:rPr>
              <a:t>3DGS Indoor Reconstruction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63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B0B0B8"/>
                </a:solidFill>
                <a:latin typeface="Helvetica Neue"/>
              </a:rPr>
              <a:t>from webcam video to a photorealistic browser scene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886200"/>
            <a:ext cx="2286000" cy="27432"/>
          </a:xfrm>
          <a:prstGeom prst="rect">
            <a:avLst/>
          </a:prstGeom>
          <a:solidFill>
            <a:srgbClr val="C5A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48056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E8E8EE"/>
                </a:solidFill>
                <a:latin typeface="Helvetica Neue"/>
              </a:rPr>
              <a:t>650k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7492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splats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448056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E8E8EE"/>
                </a:solidFill>
                <a:latin typeface="Helvetica Neue"/>
              </a:rPr>
              <a:t>30k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507492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iters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448056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E8E8EE"/>
                </a:solidFill>
                <a:latin typeface="Helvetica Neue"/>
              </a:rPr>
              <a:t>28.11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507492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PSNR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448056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E8E8EE"/>
                </a:solidFill>
                <a:latin typeface="Helvetica Neue"/>
              </a:rPr>
              <a:t>15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507492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ksplat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035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E8E8EE"/>
                </a:solidFill>
                <a:latin typeface="Helvetica Neue"/>
              </a:rPr>
              <a:t>Meet Jain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github.com/Meetjain-0201/3dgs-indoor-reconstruction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01  · 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0" y="502920"/>
            <a:ext cx="548640" cy="27432"/>
          </a:xfrm>
          <a:prstGeom prst="rect">
            <a:avLst/>
          </a:prstGeom>
          <a:solidFill>
            <a:srgbClr val="C5A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C6C7A"/>
                </a:solidFill>
                <a:latin typeface="Menlo"/>
              </a:rPr>
              <a:t>2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C6C7A"/>
                </a:solidFill>
                <a:latin typeface="Menlo"/>
              </a:rPr>
              <a:t>CS5330  ·  Meet Jain  ·  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E8E8EE"/>
                </a:solidFill>
                <a:latin typeface="Helvetica Neue"/>
              </a:rPr>
              <a:t>Photoreal 3D from a phone-grade camera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B0B0B8"/>
                </a:solidFill>
                <a:latin typeface="Helvetica Neue"/>
              </a:rPr>
              <a:t>How good can a reconstruction be with just a handheld walkthrough and a laptop GPU?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17520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121218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traditional scanning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1188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E8E8EE"/>
                </a:solidFill>
                <a:latin typeface="Helvetica Neue"/>
              </a:rPr>
              <a:t>LiDAR rigs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0916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B0B8"/>
                </a:solidFill>
                <a:latin typeface="Helvetica Neue"/>
              </a:rPr>
              <a:t>Specialised hardware, slow capture, large files, not for a walkthrough-style demo.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3017520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121218"/>
          </a:solidFill>
          <a:ln w="12700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32461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NeRF (2020)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61188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E8E8EE"/>
                </a:solidFill>
                <a:latin typeface="Helvetica Neue"/>
              </a:rPr>
              <a:t>seconds / frame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70916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B0B8"/>
                </a:solidFill>
                <a:latin typeface="Helvetica Neue"/>
              </a:rPr>
              <a:t>Photoreal view synthesis, but rendering is too slow for a real-time viewer.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3017520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121218"/>
          </a:solidFill>
          <a:ln w="19050">
            <a:solidFill>
              <a:srgbClr val="C5A8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32461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3D Gaussian Splatting (2023)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61188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C5A86E"/>
                </a:solidFill>
                <a:latin typeface="Helvetica Neue"/>
              </a:rPr>
              <a:t>real-time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70916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B0B8"/>
                </a:solidFill>
                <a:latin typeface="Helvetica Neue"/>
              </a:rPr>
              <a:t>Comparable quality to NeRF, tile-based rasterizer runs in real time on commodity GPUs.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5A86E"/>
                </a:solidFill>
                <a:latin typeface="Menlo"/>
              </a:rPr>
              <a:t>goal  →  raw video  ·  ~17 min of compute  ·  scene you can fly through in a browser tab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02  ·  RELATED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0" y="502920"/>
            <a:ext cx="548640" cy="27432"/>
          </a:xfrm>
          <a:prstGeom prst="rect">
            <a:avLst/>
          </a:prstGeom>
          <a:solidFill>
            <a:srgbClr val="C5A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C6C7A"/>
                </a:solidFill>
                <a:latin typeface="Menlo"/>
              </a:rPr>
              <a:t>3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C6C7A"/>
                </a:solidFill>
                <a:latin typeface="Menlo"/>
              </a:rPr>
              <a:t>CS5330  ·  Meet Jain  ·  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E8E8EE"/>
                </a:solidFill>
                <a:latin typeface="Helvetica Neue"/>
              </a:rPr>
              <a:t>Standing on three sets of shoulders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34640"/>
            <a:ext cx="10332720" cy="18288"/>
          </a:xfrm>
          <a:prstGeom prst="rect">
            <a:avLst/>
          </a:prstGeom>
          <a:solidFill>
            <a:srgbClr val="2A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2743200"/>
            <a:ext cx="182880" cy="182880"/>
          </a:xfrm>
          <a:prstGeom prst="ellipse">
            <a:avLst/>
          </a:prstGeom>
          <a:solidFill>
            <a:srgbClr val="C5A8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C6C7A"/>
                </a:solidFill>
                <a:latin typeface="Menlo"/>
              </a:rPr>
              <a:t>2016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E8E8EE"/>
                </a:solidFill>
                <a:latin typeface="Helvetica Neue"/>
              </a:rPr>
              <a:t>COLMAP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Schonberger &amp; Frahm, CVPR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31920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B0B8"/>
                </a:solidFill>
                <a:latin typeface="Helvetica Neue"/>
              </a:rPr>
              <a:t>Incremental SfM: SIFT features, bundle adjustment, a sparse point cloud. Still the standard for camera pose recovery.</a:t>
            </a:r>
          </a:p>
        </p:txBody>
      </p:sp>
      <p:sp>
        <p:nvSpPr>
          <p:cNvPr id="14" name="Oval 13"/>
          <p:cNvSpPr/>
          <p:nvPr/>
        </p:nvSpPr>
        <p:spPr>
          <a:xfrm>
            <a:off x="5212080" y="2743200"/>
            <a:ext cx="182880" cy="182880"/>
          </a:xfrm>
          <a:prstGeom prst="ellipse">
            <a:avLst/>
          </a:prstGeom>
          <a:solidFill>
            <a:srgbClr val="C5A8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057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C6C7A"/>
                </a:solidFill>
                <a:latin typeface="Menlo"/>
              </a:rPr>
              <a:t>2020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632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E8E8EE"/>
                </a:solidFill>
                <a:latin typeface="Helvetica Neue"/>
              </a:rPr>
              <a:t>NeRF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6118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Mildenhall et al., ECCV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931920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B0B8"/>
                </a:solidFill>
                <a:latin typeface="Helvetica Neue"/>
              </a:rPr>
              <a:t>Neural radiance fields. Photoreal view synthesis from a set of posed images, but slow to query per pixel.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0" y="2743200"/>
            <a:ext cx="182880" cy="182880"/>
          </a:xfrm>
          <a:prstGeom prst="ellipse">
            <a:avLst/>
          </a:prstGeom>
          <a:solidFill>
            <a:srgbClr val="C5A8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0" y="2057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C6C7A"/>
                </a:solidFill>
                <a:latin typeface="Menlo"/>
              </a:rPr>
              <a:t>2023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0632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E8E8EE"/>
                </a:solidFill>
                <a:latin typeface="Helvetica Neue"/>
              </a:rPr>
              <a:t>3DGS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6118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Kerbl et al., SIGGRAPH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3931920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B0B8"/>
                </a:solidFill>
                <a:latin typeface="Helvetica Neue"/>
              </a:rPr>
              <a:t>Explicit 3D Gaussians + tile-based differentiable rasterizer. Real-time rendering at NeRF-class quality.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760720"/>
            <a:ext cx="10789920" cy="9144"/>
          </a:xfrm>
          <a:prstGeom prst="rect">
            <a:avLst/>
          </a:prstGeom>
          <a:solidFill>
            <a:srgbClr val="2A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89788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open-source glue used: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B0B0B8"/>
                </a:solidFill>
                <a:latin typeface="Menlo"/>
              </a:rPr>
              <a:t>graphdeco-inria/gaussian-splatting   ·   mkkellogg/GaussianSplats3D   ·   three.js   ·   vite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03  ·  METHODS &amp; THEORY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0" y="502920"/>
            <a:ext cx="548640" cy="27432"/>
          </a:xfrm>
          <a:prstGeom prst="rect">
            <a:avLst/>
          </a:prstGeom>
          <a:solidFill>
            <a:srgbClr val="C5A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C6C7A"/>
                </a:solidFill>
                <a:latin typeface="Menlo"/>
              </a:rPr>
              <a:t>4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C6C7A"/>
                </a:solidFill>
                <a:latin typeface="Menlo"/>
              </a:rPr>
              <a:t>CS5330  ·  Meet Jain  ·  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8E8EE"/>
                </a:solidFill>
                <a:latin typeface="Helvetica Neue"/>
              </a:rPr>
              <a:t>Pipeline and the theory behind each block</a:t>
            </a:r>
          </a:p>
        </p:txBody>
      </p:sp>
      <p:pic>
        <p:nvPicPr>
          <p:cNvPr id="8" name="Picture 7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10881360" cy="265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E8E8EE"/>
                </a:solidFill>
                <a:latin typeface="Helvetica Neue"/>
              </a:rPr>
              <a:t>Why 3DGS is fast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2920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C5A86E"/>
                </a:solidFill>
                <a:latin typeface="Menlo"/>
              </a:rPr>
              <a:t>explicit scene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029200"/>
            <a:ext cx="8961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B0B8"/>
                </a:solidFill>
                <a:latin typeface="Helvetica Neue"/>
              </a:rPr>
              <a:t>no MLP query per pixel; colour comes from 650k Gaussians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321808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C5A86E"/>
                </a:solidFill>
                <a:latin typeface="Menlo"/>
              </a:rPr>
              <a:t>tile rasterizer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5321808"/>
            <a:ext cx="8961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B0B8"/>
                </a:solidFill>
                <a:latin typeface="Helvetica Neue"/>
              </a:rPr>
              <a:t>splats binned into 16x16 tiles, sorted by depth, α-blended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14416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C5A86E"/>
                </a:solidFill>
                <a:latin typeface="Menlo"/>
              </a:rPr>
              <a:t>adaptive density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5614416"/>
            <a:ext cx="8961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B0B8"/>
                </a:solidFill>
                <a:latin typeface="Helvetica Neue"/>
              </a:rPr>
              <a:t>split / clone / prune during training reshapes the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07024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C5A86E"/>
                </a:solidFill>
                <a:latin typeface="Menlo"/>
              </a:rPr>
              <a:t>differentiable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5907024"/>
            <a:ext cx="8961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B0B8"/>
                </a:solidFill>
                <a:latin typeface="Helvetica Neue"/>
              </a:rPr>
              <a:t>L1 + SSIM gradients flow back into position, Σ, colour, 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04  ·  DATA &amp;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0" y="502920"/>
            <a:ext cx="548640" cy="27432"/>
          </a:xfrm>
          <a:prstGeom prst="rect">
            <a:avLst/>
          </a:prstGeom>
          <a:solidFill>
            <a:srgbClr val="C5A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C6C7A"/>
                </a:solidFill>
                <a:latin typeface="Menlo"/>
              </a:rPr>
              <a:t>5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C6C7A"/>
                </a:solidFill>
                <a:latin typeface="Menlo"/>
              </a:rPr>
              <a:t>CS5330  ·  Meet Jain  ·  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8E8EE"/>
                </a:solidFill>
                <a:latin typeface="Helvetica Neue"/>
              </a:rPr>
              <a:t>One barn, one laptop, one walkthrough</a:t>
            </a:r>
          </a:p>
        </p:txBody>
      </p:sp>
      <p:pic>
        <p:nvPicPr>
          <p:cNvPr id="8" name="Picture 7" descr="frames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0"/>
            <a:ext cx="11247120" cy="25041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4709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74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0749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4K / 30 fps handheld walkthrough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394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length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53949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409 s  ·  12,270 raw frames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7150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sampled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7150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1 fps + blur filter → 300 sharp 720p frames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0350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cameras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6035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300 registered  ·  0.48 px reproj. err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709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hardware &amp; 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074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GPU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50749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RTX 5060  ·  Blackwell sm_120  ·  8 GB VRAM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94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53949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PyTorch 2.11 + CUDA 12.8  ·  Python 3.11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7150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57150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30k iterations  ·  ~17 min wallclock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60350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eval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6035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LLFF hold-out  ·  38 test views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05  · 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0" y="502920"/>
            <a:ext cx="548640" cy="27432"/>
          </a:xfrm>
          <a:prstGeom prst="rect">
            <a:avLst/>
          </a:prstGeom>
          <a:solidFill>
            <a:srgbClr val="C5A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C6C7A"/>
                </a:solidFill>
                <a:latin typeface="Menlo"/>
              </a:rPr>
              <a:t>6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C6C7A"/>
                </a:solidFill>
                <a:latin typeface="Menlo"/>
              </a:rPr>
              <a:t>CS5330  ·  Meet Jain  ·  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8686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E8E8EE"/>
                </a:solidFill>
                <a:latin typeface="Helvetica Neue"/>
              </a:rPr>
              <a:t>barn  ·  30k iterations  ·  38 held-out 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91640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121218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20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PSNR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48840"/>
            <a:ext cx="3611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E8EE"/>
                </a:solidFill>
                <a:latin typeface="Helvetica Neue"/>
              </a:rPr>
              <a:t>28.11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8892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dB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91640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121218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874520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SSIM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148840"/>
            <a:ext cx="3611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E8EE"/>
                </a:solidFill>
                <a:latin typeface="Helvetica Neue"/>
              </a:rPr>
              <a:t>0.879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78892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(higher better)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1691640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121218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874520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LPIPS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48840"/>
            <a:ext cx="3611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E8EE"/>
                </a:solidFill>
                <a:latin typeface="Helvetica Neue"/>
              </a:rPr>
              <a:t>0.120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78892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(lower better)</a:t>
            </a:r>
          </a:p>
        </p:txBody>
      </p:sp>
      <p:pic>
        <p:nvPicPr>
          <p:cNvPr id="20" name="Picture 19" descr="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91840"/>
            <a:ext cx="5852160" cy="2438400"/>
          </a:xfrm>
          <a:prstGeom prst="rect">
            <a:avLst/>
          </a:prstGeom>
        </p:spPr>
      </p:pic>
      <p:pic>
        <p:nvPicPr>
          <p:cNvPr id="21" name="Picture 20" descr="psn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291840"/>
            <a:ext cx="5852160" cy="240079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580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per-view range  22.4 → 32.1 dB  ·  worst views are blank-sky and specular; best are textured frontal wall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06  · 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0" y="502920"/>
            <a:ext cx="548640" cy="27432"/>
          </a:xfrm>
          <a:prstGeom prst="rect">
            <a:avLst/>
          </a:prstGeom>
          <a:solidFill>
            <a:srgbClr val="C5A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C6C7A"/>
                </a:solidFill>
                <a:latin typeface="Menlo"/>
              </a:rPr>
              <a:t>7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C6C7A"/>
                </a:solidFill>
                <a:latin typeface="Menlo"/>
              </a:rPr>
              <a:t>CS5330  ·  Meet Jain  ·  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E8E8EE"/>
                </a:solidFill>
                <a:latin typeface="Helvetica Neue"/>
              </a:rPr>
              <a:t>Running in your browser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C6C7A"/>
                </a:solidFill>
                <a:latin typeface="Menlo"/>
              </a:rPr>
              <a:t>localhost:5173  →  landing page  →  scene picker  →  viewer.html</a:t>
            </a:r>
          </a:p>
        </p:txBody>
      </p:sp>
      <p:pic>
        <p:nvPicPr>
          <p:cNvPr id="9" name="Picture 8" descr="viewer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64008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79" y="237744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743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5A86E"/>
                </a:solidFill>
                <a:latin typeface="Menlo"/>
              </a:rPr>
              <a:t>drag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79" y="27432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orbit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108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5A86E"/>
                </a:solidFill>
                <a:latin typeface="Menlo"/>
              </a:rPr>
              <a:t>scroll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79" y="31089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zoom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74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5A86E"/>
                </a:solidFill>
                <a:latin typeface="Menlo"/>
              </a:rPr>
              <a:t>right-drag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79" y="34747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pan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840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5A86E"/>
                </a:solidFill>
                <a:latin typeface="Menlo"/>
              </a:rPr>
              <a:t>WASD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79" y="38404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fly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79" y="4480560"/>
            <a:ext cx="3017520" cy="9525"/>
          </a:xfrm>
          <a:prstGeom prst="rect">
            <a:avLst/>
          </a:prstGeom>
          <a:solidFill>
            <a:srgbClr val="2A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79" y="466344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C6C7A"/>
                </a:solidFill>
                <a:latin typeface="Menlo"/>
              </a:rPr>
              <a:t>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5029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E8E8EE"/>
                </a:solidFill>
                <a:latin typeface="Helvetica Neue"/>
              </a:rPr>
              <a:t>three.js 0.184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53492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E8E8EE"/>
                </a:solidFill>
                <a:latin typeface="Helvetica Neue"/>
              </a:rPr>
              <a:t>gaussian-splats-3d 0.4.7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5669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E8E8EE"/>
                </a:solidFill>
                <a:latin typeface="Helvetica Neue"/>
              </a:rPr>
              <a:t>vite 8 + ksplat (15 MB)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07  · 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0" y="502920"/>
            <a:ext cx="548640" cy="27432"/>
          </a:xfrm>
          <a:prstGeom prst="rect">
            <a:avLst/>
          </a:prstGeom>
          <a:solidFill>
            <a:srgbClr val="C5A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C6C7A"/>
                </a:solidFill>
                <a:latin typeface="Menlo"/>
              </a:rPr>
              <a:t>8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C6C7A"/>
                </a:solidFill>
                <a:latin typeface="Menlo"/>
              </a:rPr>
              <a:t>CS5330  ·  Meet Jain  ·  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E8E8EE"/>
                </a:solidFill>
                <a:latin typeface="Helvetica Neue"/>
              </a:rPr>
              <a:t>shipped, bit, next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121218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1 /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E8E8EE"/>
                </a:solidFill>
                <a:latin typeface="Helvetica Neue"/>
              </a:rPr>
              <a:t>shipped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2900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end-to-end pipeline in one 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831336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Blackwell-ready env (sm_120)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3367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COLMAP to 3DGS camera handoff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63600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live training monitor (rich TUI)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038344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eval: PSNR / SSIM / LPIPS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4406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three.js browser viewer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210312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121218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377440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2 /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9748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C5A86E"/>
                </a:solidFill>
                <a:latin typeface="Helvetica Neue"/>
              </a:rPr>
              <a:t>learned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42900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new GPUs need new toolchains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3831336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camera conventions break silently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423367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one config flag = silent black 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63600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instrument every layer before guessing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038344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coordinate systems silently bite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75320" y="210312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121218"/>
          </a:solidFill>
          <a:ln w="9525">
            <a:solidFill>
              <a:srgbClr val="2A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9640" y="2377440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C6C7A"/>
                </a:solidFill>
                <a:latin typeface="Menlo"/>
              </a:rPr>
              <a:t>3 /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69748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E8E8EE"/>
                </a:solidFill>
                <a:latin typeface="Helvetica Neue"/>
              </a:rPr>
              <a:t>next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342900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train at full 720p on a 12 GB card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3831336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actual indoor scenes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423367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LOD / mesh fallback for mobile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463600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pose init from first COLMAP 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5038344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E8EE"/>
                </a:solidFill>
                <a:latin typeface="Helvetica Neue"/>
              </a:rPr>
              <a:t>·  CI smoke test on a short clip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5A86E"/>
                </a:solidFill>
                <a:latin typeface="Menlo"/>
              </a:rPr>
              <a:t>repo  →  github.com/Meetjain-0201/3dgs-indoor-reconstruction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